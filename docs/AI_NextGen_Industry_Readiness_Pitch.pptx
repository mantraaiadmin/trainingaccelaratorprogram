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6"/>
  </p:normalViewPr>
  <p:slideViewPr>
    <p:cSldViewPr snapToGrid="0" snapToObjects="1">
      <p:cViewPr varScale="1">
        <p:scale>
          <a:sx n="108" d="100"/>
          <a:sy n="108" d="100"/>
        </p:scale>
        <p:origin x="178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9784" y="746314"/>
            <a:ext cx="843295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Mantra AI Talent Accelarator Internship Program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7DD3FC"/>
                </a:solidFill>
                <a:latin typeface="Calibri"/>
              </a:defRPr>
            </a:pPr>
            <a:r>
              <a:rPr dirty="0"/>
              <a:t>Transforming Students into Industry-Ready Professionals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80467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rPr dirty="0"/>
              <a:t>• 13+ years of IT industry experience — founded our </a:t>
            </a:r>
            <a:r>
              <a:rPr lang="en-US" dirty="0"/>
              <a:t>IT Services</a:t>
            </a:r>
            <a:r>
              <a:rPr dirty="0"/>
              <a:t> to bridge academic learning and real-world expectations</a:t>
            </a:r>
          </a:p>
          <a:p>
            <a:pPr>
              <a:spcAft>
                <a:spcPts val="6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rPr dirty="0"/>
              <a:t>• Deep technical expertise serving clients across the United States</a:t>
            </a:r>
          </a:p>
          <a:p>
            <a:pPr>
              <a:spcAft>
                <a:spcPts val="6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rPr dirty="0"/>
              <a:t>• We understand the skills and competencies organizations seek in today's workforce</a:t>
            </a:r>
          </a:p>
          <a:p>
            <a:pPr>
              <a:spcAft>
                <a:spcPts val="6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rPr dirty="0"/>
              <a:t>• Mission: Industry-partnered programs that transform students into job-ready professionals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909060"/>
            <a:ext cx="7955279" cy="868680"/>
          </a:xfrm>
          <a:prstGeom prst="roundRect">
            <a:avLst/>
          </a:prstGeom>
          <a:solidFill>
            <a:srgbClr val="152A5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Our Impact</a:t>
            </a:r>
          </a:p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Working with students, colleges, and industry partners to build technical, problem-solving, and workplace skills — a talent pipeline that contributes confidently from day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19472"/>
            <a:ext cx="7955279" cy="777240"/>
          </a:xfrm>
          <a:prstGeom prst="roundRect">
            <a:avLst/>
          </a:prstGeom>
          <a:solidFill>
            <a:srgbClr val="152A5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Program Highlights</a:t>
            </a:r>
          </a:p>
          <a:p>
            <a:pPr>
              <a:defRPr sz="1000">
                <a:solidFill>
                  <a:srgbClr val="FFFFFF"/>
                </a:solidFill>
                <a:latin typeface="Calibri"/>
              </a:defRPr>
            </a:pPr>
            <a:r>
              <a:t>24/7 AI Tutor  ·  Weekly Live Mentorship  ·  Lifetime Course Access  ·  Mini Project + Capstone + Hackathon  ·  Top 5% Paid Internship  ·  Top 5% Placement Assurity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920740"/>
            <a:ext cx="1828800" cy="502920"/>
          </a:xfrm>
          <a:prstGeom prst="roundRect">
            <a:avLst/>
          </a:prstGeom>
          <a:solidFill>
            <a:srgbClr val="1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Academia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31720" y="6089904"/>
            <a:ext cx="164592" cy="18288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14600" y="5964797"/>
            <a:ext cx="1828800" cy="502920"/>
          </a:xfrm>
          <a:prstGeom prst="roundRect">
            <a:avLst/>
          </a:prstGeom>
          <a:solidFill>
            <a:srgbClr val="1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Industry Program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61688" y="6126777"/>
            <a:ext cx="164592" cy="18288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1999" y="5964797"/>
            <a:ext cx="1828800" cy="502920"/>
          </a:xfrm>
          <a:prstGeom prst="roundRect">
            <a:avLst/>
          </a:prstGeom>
          <a:solidFill>
            <a:srgbClr val="1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Job-Ready Talent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37375" y="6124817"/>
            <a:ext cx="164592" cy="18288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601967" y="5989320"/>
            <a:ext cx="1828800" cy="502920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Day-One Impact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431972-4272-D8F7-8973-EF54C843DBE6}"/>
              </a:ext>
            </a:extLst>
          </p:cNvPr>
          <p:cNvSpPr txBox="1"/>
          <p:nvPr/>
        </p:nvSpPr>
        <p:spPr>
          <a:xfrm>
            <a:off x="640080" y="1579418"/>
            <a:ext cx="522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Company 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A3A"/>
                </a:solidFill>
                <a:latin typeface="Calibri"/>
              </a:defRPr>
            </a:pPr>
            <a:r>
              <a:t>The Problem We Identified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8138160" cy="960120"/>
          </a:xfrm>
          <a:prstGeom prst="roundRect">
            <a:avLst/>
          </a:prstGeom>
          <a:solidFill>
            <a:srgbClr val="E0F7FA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Through industry engagements and hiring, we observed a significant disconnect: graduates have theoretical knowledge but lack hands-on experience, industry exposure, and professional readiness for competitive work environments.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3977639" cy="3337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400" dirty="0"/>
              <a:t>Student Challenges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Strong theory, limited practical exposure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No real-world project experience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Limited industry workflow understanding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Communication &amp; interview readiness gaps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Hard transition from classroom to workplace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148840"/>
            <a:ext cx="3977639" cy="3337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400" dirty="0"/>
              <a:t>College Challenges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Rising placement expectations from management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Rapidly changing technology landscape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Industry–academia skill mismatch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Need for measurable employability outcomes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Faculty bandwidth for 500+ students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623560"/>
            <a:ext cx="5120640" cy="640080"/>
          </a:xfrm>
          <a:prstGeom prst="rect">
            <a:avLst/>
          </a:prstGeom>
          <a:solidFill>
            <a:srgbClr val="0B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dirty="0"/>
              <a:t>College Education  ←—— GAP ——→  Industry Expectations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A3A"/>
                </a:solidFill>
                <a:latin typeface="Calibri"/>
              </a:defRPr>
            </a:pPr>
            <a: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Industry-partnered internship program: real-world projects, mentorship from experienced IT professionals, practical technical training, and industry best practices.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1572768"/>
            <a:ext cx="411480" cy="41148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2807"/>
            <a:ext cx="25146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Technical Skill Development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Python · Full Stack · AI tracks</a:t>
            </a:r>
            <a:br>
              <a:rPr sz="1100" dirty="0"/>
            </a:br>
            <a:r>
              <a:rPr sz="1100" dirty="0"/>
              <a:t>200+ lessons · live coding labs</a:t>
            </a:r>
          </a:p>
        </p:txBody>
      </p:sp>
      <p:sp>
        <p:nvSpPr>
          <p:cNvPr id="7" name="Oval 6"/>
          <p:cNvSpPr/>
          <p:nvPr/>
        </p:nvSpPr>
        <p:spPr>
          <a:xfrm>
            <a:off x="4480560" y="1572768"/>
            <a:ext cx="411480" cy="41148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892807"/>
            <a:ext cx="25146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Hands-on Project Experience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Mini projects · capstone · GitHub portfolio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1572768"/>
            <a:ext cx="411480" cy="41148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892807"/>
            <a:ext cx="25146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Industry Mentorship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Weekly live sessions · recorded Q&amp;A · mentor feedback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3584448"/>
            <a:ext cx="411480" cy="41148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904487"/>
            <a:ext cx="25146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Career Readiness Training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Interview prep · HR modules · mock dialogues</a:t>
            </a:r>
          </a:p>
        </p:txBody>
      </p:sp>
      <p:sp>
        <p:nvSpPr>
          <p:cNvPr id="13" name="Oval 12"/>
          <p:cNvSpPr/>
          <p:nvPr/>
        </p:nvSpPr>
        <p:spPr>
          <a:xfrm>
            <a:off x="4480560" y="3584448"/>
            <a:ext cx="411480" cy="41148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3904487"/>
            <a:ext cx="25146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Assessment &amp; Tracking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50-Q weekly quizzes · XP · leaderboard · analytics</a:t>
            </a:r>
          </a:p>
        </p:txBody>
      </p:sp>
      <p:sp>
        <p:nvSpPr>
          <p:cNvPr id="15" name="Oval 14"/>
          <p:cNvSpPr/>
          <p:nvPr/>
        </p:nvSpPr>
        <p:spPr>
          <a:xfrm>
            <a:off x="7132320" y="3584448"/>
            <a:ext cx="411480" cy="41148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3904487"/>
            <a:ext cx="25146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Placement Preparation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coding · resume · employer connect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40680"/>
            <a:ext cx="8138160" cy="960120"/>
          </a:xfrm>
          <a:prstGeom prst="roundRect">
            <a:avLst/>
          </a:prstGeom>
          <a:solidFill>
            <a:srgbClr val="0B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22D3EE"/>
                </a:solidFill>
              </a:defRPr>
            </a:pPr>
            <a:r>
              <a:rPr sz="1600" dirty="0"/>
              <a:t>Our Impact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400" dirty="0"/>
              <a:t>Industry-ready graduates with practical knowledge, portfolio proof, and confidence — prepared to thrive in modern organizations from day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A3A"/>
                </a:solidFill>
                <a:latin typeface="Calibri"/>
              </a:defRPr>
            </a:pPr>
            <a:r>
              <a:t>Learn by Building, Not Just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920240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71600" y="1234440"/>
            <a:ext cx="201168" cy="201168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192024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b="1" dirty="0">
                <a:solidFill>
                  <a:srgbClr val="0B1A3A"/>
                </a:solidFill>
                <a:latin typeface="Calibri"/>
              </a:rPr>
              <a:t>Phase 1: Foundation Skills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Programming · Databases · APIs · Git · Linux · Debugging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77439" y="2331720"/>
            <a:ext cx="228600" cy="22860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51760" y="1417320"/>
            <a:ext cx="1920240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520440" y="1234440"/>
            <a:ext cx="201168" cy="201168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651760" y="1691640"/>
            <a:ext cx="192024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Phase 2: Project Development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Team projects · Agile · Code reviews · Real-world use cases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26280" y="2331720"/>
            <a:ext cx="228600" cy="22860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800600" y="1417320"/>
            <a:ext cx="1920240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669280" y="1234440"/>
            <a:ext cx="201168" cy="201168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00600" y="1691640"/>
            <a:ext cx="192024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Phase 3: Industry Simulation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Professional workflows · Documentation · Collaboration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675120" y="2331720"/>
            <a:ext cx="228600" cy="22860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949440" y="1417320"/>
            <a:ext cx="192024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818120" y="1234440"/>
            <a:ext cx="201168" cy="201168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949440" y="1691640"/>
            <a:ext cx="192024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Phase 4: Performance Evaluation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100" dirty="0"/>
              <a:t>Weekly assessments · Feedback · Progress dashboards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40480"/>
            <a:ext cx="8138160" cy="2286000"/>
          </a:xfrm>
          <a:prstGeom prst="roundRect">
            <a:avLst/>
          </a:prstGeom>
          <a:solidFill>
            <a:srgbClr val="E0F7FA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0B1A3A"/>
                </a:solidFill>
              </a:defRPr>
            </a:pPr>
            <a:r>
              <a:rPr dirty="0"/>
              <a:t>Three Live Internship Tracks (8 Weeks Each)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rPr sz="1400" dirty="0"/>
              <a:t>• Python Engineering Foundations — Linux, Git, </a:t>
            </a:r>
            <a:r>
              <a:rPr sz="1400" dirty="0" err="1"/>
              <a:t>DSA,</a:t>
            </a:r>
            <a:r>
              <a:rPr lang="en-US" sz="1400" dirty="0" err="1"/>
              <a:t>Core</a:t>
            </a:r>
            <a:r>
              <a:rPr lang="en-US" sz="1400" dirty="0"/>
              <a:t> Python,</a:t>
            </a:r>
            <a:r>
              <a:rPr sz="1400" dirty="0"/>
              <a:t> REST APIs, backend readiness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rPr sz="1400" dirty="0"/>
              <a:t>• Full Stack Product Engineering — React, </a:t>
            </a:r>
            <a:r>
              <a:rPr sz="1400" dirty="0" err="1"/>
              <a:t>Next.js</a:t>
            </a:r>
            <a:r>
              <a:rPr sz="1400" dirty="0"/>
              <a:t>, </a:t>
            </a:r>
            <a:r>
              <a:rPr sz="1400" dirty="0" err="1"/>
              <a:t>NestJS</a:t>
            </a:r>
            <a:r>
              <a:rPr sz="1400" dirty="0"/>
              <a:t>, PostgreSQL, Docker, DevOps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rPr sz="1400" dirty="0"/>
              <a:t>• AI Engineering &amp; Intelligent Systems (Advanced) — LLMs, RAG, agents, </a:t>
            </a:r>
            <a:r>
              <a:rPr sz="1400" dirty="0" err="1"/>
              <a:t>FastAPI</a:t>
            </a:r>
            <a:r>
              <a:rPr sz="1400" dirty="0"/>
              <a:t>, vector DBs, AI UX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A3A"/>
                </a:solidFill>
                <a:latin typeface="Calibri"/>
              </a:defRPr>
            </a:pPr>
            <a:r>
              <a:t>Real-World Experience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4114800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• Live project environments with browser-based coding sandbox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• Industry-standard tools: Git, Docker, REST APIs, cloud-ready stacks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• Mentor-guided assignments with weekly </a:t>
            </a:r>
            <a:r>
              <a:rPr lang="en-US" sz="1600" dirty="0"/>
              <a:t>online</a:t>
            </a:r>
            <a:r>
              <a:rPr sz="1600" dirty="0"/>
              <a:t> sessions + recordings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• Professional development: documentation, presentations, teamwork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• Client-centric problem solving through capstone &amp; hackathon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• 24/7 lesson-scoped AI tutor for continuous learning support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92040" y="1143000"/>
            <a:ext cx="3749039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Student Deliverables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✓  Project Portfolio (GitHub repos)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✓  Technical Documentation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✓  Presentation &amp; Demo Skills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✓  QR-Verified Completion Certificate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600" dirty="0"/>
              <a:t>✓  Internship </a:t>
            </a:r>
            <a:r>
              <a:rPr sz="1600" dirty="0" err="1"/>
              <a:t>LoR</a:t>
            </a:r>
            <a:r>
              <a:rPr sz="1600" dirty="0"/>
              <a:t> </a:t>
            </a:r>
            <a:br>
              <a:rPr lang="en-US" sz="1600" dirty="0"/>
            </a:br>
            <a:r>
              <a:rPr sz="1600" dirty="0"/>
              <a:t>✓  Hackathon participation certificate</a:t>
            </a:r>
            <a:br>
              <a:rPr lang="en-US" sz="1600" dirty="0"/>
            </a:br>
            <a:r>
              <a:rPr lang="en-IN" sz="1600" dirty="0"/>
              <a:t>✓  Paid Internship(Merit-based)</a:t>
            </a:r>
            <a:br>
              <a:rPr lang="en-IN" sz="1600" dirty="0"/>
            </a:br>
            <a:r>
              <a:rPr lang="en-IN" sz="1600" dirty="0"/>
              <a:t>✓  Placement Assurance</a:t>
            </a:r>
            <a:endParaRPr lang="en-US" sz="1600" dirty="0"/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endParaRPr sz="1600" dirty="0"/>
          </a:p>
        </p:txBody>
      </p:sp>
      <p:sp>
        <p:nvSpPr>
          <p:cNvPr id="6" name="Rounded Rectangle 5"/>
          <p:cNvSpPr/>
          <p:nvPr/>
        </p:nvSpPr>
        <p:spPr>
          <a:xfrm>
            <a:off x="502920" y="5349240"/>
            <a:ext cx="8138160" cy="868680"/>
          </a:xfrm>
          <a:prstGeom prst="roundRect">
            <a:avLst/>
          </a:prstGeom>
          <a:solidFill>
            <a:srgbClr val="0B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End of Program:  Mini Project  →  Capstone Project  →  Industry Hackathon  →  Top Performer Selection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A3A"/>
                </a:solidFill>
                <a:latin typeface="Calibri"/>
              </a:defRPr>
            </a:pPr>
            <a:r>
              <a:t>Preparing Students for Career Success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69748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400" dirty="0"/>
              <a:t>Technical Preparation</a:t>
            </a:r>
            <a:endParaRPr lang="en-US" sz="1400" dirty="0"/>
          </a:p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endParaRPr sz="1400" dirty="0"/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Coding practice &amp; output prediction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Problem solving drills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Mock technical interviews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143000"/>
            <a:ext cx="269748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400" dirty="0"/>
              <a:t>Professional Skills</a:t>
            </a:r>
            <a:endParaRPr lang="en-US" sz="1400" dirty="0"/>
          </a:p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endParaRPr sz="1400" dirty="0"/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Communication workshops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Resume building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LinkedIn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143000"/>
            <a:ext cx="269748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400" dirty="0"/>
              <a:t>Career Readiness</a:t>
            </a:r>
            <a:endParaRPr lang="en-US" sz="1400" dirty="0"/>
          </a:p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endParaRPr sz="1400" dirty="0"/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Workplace etiquette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Corporate communication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rPr sz="1400" dirty="0"/>
              <a:t>• Weekly interview prep modules (8 Q&amp;A per week)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5486400"/>
            <a:ext cx="3291840" cy="685800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Career Readiness Funnel:  Learn → Practice → Assess → Interview → Place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A3A"/>
                </a:solidFill>
                <a:latin typeface="Calibri"/>
              </a:defRPr>
            </a:pPr>
            <a:r>
              <a:t>Driving Employment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Employer Engagement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Hiring partner network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Recruitment drives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Industry referrals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Talent showcases at hackathon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09728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Student Benefits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Increased placement opportunities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Industry visibility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Strong professional profile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Job readiness confidence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09728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rtlCol="0" anchor="ctr"/>
          <a:lstStyle/>
          <a:p>
            <a:pPr algn="ctr">
              <a:defRPr sz="1200" b="1">
                <a:solidFill>
                  <a:srgbClr val="0B1A3A"/>
                </a:solidFill>
                <a:latin typeface="Calibri"/>
              </a:defRPr>
            </a:pPr>
            <a:r>
              <a:rPr sz="1600" dirty="0"/>
              <a:t>Top Performers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Top 5% → Paid internship (performance-based stipend)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000">
                <a:solidFill>
                  <a:srgbClr val="334155"/>
                </a:solidFill>
                <a:latin typeface="Calibri"/>
              </a:defRPr>
            </a:pPr>
            <a:r>
              <a:rPr sz="1200" dirty="0"/>
              <a:t>Hackathon winners prioritized</a:t>
            </a:r>
            <a:endParaRPr sz="1100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412539"/>
              </p:ext>
            </p:extLst>
          </p:nvPr>
        </p:nvGraphicFramePr>
        <p:xfrm>
          <a:off x="502920" y="4103519"/>
          <a:ext cx="38404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Student Year</a:t>
                      </a:r>
                    </a:p>
                  </a:txBody>
                  <a:tcPr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Course Fee</a:t>
                      </a:r>
                    </a:p>
                  </a:txBody>
                  <a:tcPr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2nd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34155"/>
                          </a:solidFill>
                        </a:defRPr>
                      </a:pPr>
                      <a:r>
                        <a:t>₹3,999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3rd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34155"/>
                          </a:solidFill>
                        </a:defRPr>
                      </a:pPr>
                      <a:r>
                        <a:t>₹7,999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4th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34155"/>
                          </a:solidFill>
                        </a:defRPr>
                      </a:pPr>
                      <a:r>
                        <a:rPr dirty="0"/>
                        <a:t>₹11,999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49140" y="4103519"/>
            <a:ext cx="4069080" cy="1417320"/>
          </a:xfrm>
          <a:prstGeom prst="roundRect">
            <a:avLst/>
          </a:prstGeom>
          <a:solidFill>
            <a:srgbClr val="0B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Placement Ecosystem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Students  →  Skills + Portfolio  →  Hackathon  →  Employers  →  Internship / Placement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78032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		</a:t>
            </a:r>
            <a:r>
              <a:rPr dirty="0"/>
              <a:t>Let's Build Industry-Ready Talent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74980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D3EE"/>
                </a:solidFill>
              </a:defRPr>
            </a:pPr>
            <a:r>
              <a:t>Thank You  ·  Questions &amp; Discussion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46120"/>
            <a:ext cx="7498079" cy="1005840"/>
          </a:xfrm>
          <a:prstGeom prst="roundRect">
            <a:avLst/>
          </a:prstGeom>
          <a:solidFill>
            <a:srgbClr val="152A5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i="1">
                <a:solidFill>
                  <a:srgbClr val="FFFFFF"/>
                </a:solidFill>
              </a:defRPr>
            </a:pPr>
            <a:r>
              <a:t>"Empowering students with the skills, experience, and confidence required to thrive in today's competitive job market."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1722" y="4572000"/>
            <a:ext cx="41405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D3EE"/>
                </a:solidFill>
              </a:defRPr>
            </a:pPr>
            <a:r>
              <a:rPr dirty="0"/>
              <a:t>Contact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rPr dirty="0"/>
              <a:t>Praveen Manoharan — </a:t>
            </a:r>
            <a:r>
              <a:rPr lang="en-US" dirty="0"/>
              <a:t>CTO &amp; Technical Program Manager</a:t>
            </a:r>
            <a:endParaRPr dirty="0"/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rPr dirty="0"/>
              <a:t>+91 8760 8760 62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798</Words>
  <Application>Microsoft Macintosh PowerPoint</Application>
  <PresentationFormat>On-screen Show (4:3)</PresentationFormat>
  <Paragraphs>126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Praveen ( Testable )</cp:lastModifiedBy>
  <cp:revision>24</cp:revision>
  <dcterms:created xsi:type="dcterms:W3CDTF">2013-01-27T09:14:16Z</dcterms:created>
  <dcterms:modified xsi:type="dcterms:W3CDTF">2026-06-18T14:42:49Z</dcterms:modified>
  <cp:category/>
</cp:coreProperties>
</file>